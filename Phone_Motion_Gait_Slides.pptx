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545"/>
  </p:normalViewPr>
  <p:slideViewPr>
    <p:cSldViewPr snapToGrid="0" snapToObjects="1">
      <p:cViewPr varScale="1">
        <p:scale>
          <a:sx n="142" d="100"/>
          <a:sy n="142" d="100"/>
        </p:scale>
        <p:origin x="112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394960"/>
            <a:ext cx="12191695" cy="64008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可穿戴感知  ·  智慧健康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2194560"/>
            <a:ext cx="106984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一颗鞋载传感器,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把每一步变成健康数据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足绑 IMU  ·  运动轨迹追踪  +  步态健康分析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23560"/>
            <a:ext cx="1097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鞋载传感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5623560"/>
            <a:ext cx="1097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🗺️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626364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轨迹追踪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5623560"/>
            <a:ext cx="1097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626364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步态分析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35508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Xiaoyu Zhang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20624"/>
            <a:ext cx="91440" cy="530352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功能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运动轨迹追踪 · 真实效果</a:t>
            </a:r>
          </a:p>
        </p:txBody>
      </p:sp>
      <p:pic>
        <p:nvPicPr>
          <p:cNvPr id="5" name="Picture 4" descr="fig_traj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4930987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6692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真实绕圈行走 → 自动闭合,室内无需 GPS</a:t>
            </a:r>
          </a:p>
        </p:txBody>
      </p:sp>
      <p:pic>
        <p:nvPicPr>
          <p:cNvPr id="7" name="Picture 6" descr="fig_traj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417320"/>
            <a:ext cx="2980267" cy="2514600"/>
          </a:xfrm>
          <a:prstGeom prst="rect">
            <a:avLst/>
          </a:prstGeom>
        </p:spPr>
      </p:pic>
      <p:pic>
        <p:nvPicPr>
          <p:cNvPr id="8" name="Picture 7" descr="fig_u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9350" y="1332693"/>
            <a:ext cx="2641002" cy="44016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451131" y="4996465"/>
            <a:ext cx="2377440" cy="2872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dirty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↑ </a:t>
            </a:r>
            <a:r>
              <a:rPr sz="1200" b="0" dirty="0" err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实际</a:t>
            </a:r>
            <a:r>
              <a:rPr sz="1200" b="0" dirty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 App </a:t>
            </a:r>
            <a:r>
              <a:rPr sz="1200" b="0" dirty="0" err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界面</a:t>
            </a:r>
            <a:endParaRPr sz="1200" b="0" dirty="0">
              <a:solidFill>
                <a:srgbClr val="9FB0C8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852160" y="4398264"/>
            <a:ext cx="128016" cy="128016"/>
          </a:xfrm>
          <a:prstGeom prst="ellipse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44768" y="4306824"/>
            <a:ext cx="5852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走到哪 · 走多远  </a:t>
            </a:r>
            <a:r>
              <a:rPr sz="13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实时还原行走路径</a:t>
            </a:r>
          </a:p>
        </p:txBody>
      </p:sp>
      <p:sp>
        <p:nvSpPr>
          <p:cNvPr id="12" name="Oval 11"/>
          <p:cNvSpPr/>
          <p:nvPr/>
        </p:nvSpPr>
        <p:spPr>
          <a:xfrm>
            <a:off x="5852160" y="4965192"/>
            <a:ext cx="128016" cy="128016"/>
          </a:xfrm>
          <a:prstGeom prst="ellipse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44768" y="4873752"/>
            <a:ext cx="5852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dirty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2D / 3D </a:t>
            </a:r>
            <a:r>
              <a:rPr sz="1500" b="1" dirty="0" err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视图</a:t>
            </a:r>
            <a:r>
              <a:rPr sz="1500" b="1" dirty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  </a:t>
            </a:r>
            <a:r>
              <a:rPr sz="1300" b="0" dirty="0" err="1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可旋转查看立体轨迹</a:t>
            </a:r>
            <a:endParaRPr sz="1300" b="0" dirty="0">
              <a:solidFill>
                <a:srgbClr val="9FB0C8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852160" y="5532120"/>
            <a:ext cx="128016" cy="128016"/>
          </a:xfrm>
          <a:prstGeom prst="ellipse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44768" y="5440680"/>
            <a:ext cx="5852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无需 GPS  </a:t>
            </a:r>
            <a:r>
              <a:rPr sz="13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室内可用 · 自动闭合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20624"/>
            <a:ext cx="91440" cy="530352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功能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步态健康分析 · 看懂「变异性 CV」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可测 10+ 项:</a:t>
            </a:r>
            <a:r>
              <a:rPr sz="14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步频 · 步速 · 步长 · 支撑/摆动相 · 平衡 · 对称 · 足角度 · 着地冲击 · 转身</a:t>
            </a:r>
          </a:p>
        </p:txBody>
      </p:sp>
      <p:pic>
        <p:nvPicPr>
          <p:cNvPr id="6" name="Picture 5" descr="fig_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965960"/>
            <a:ext cx="9921240" cy="35166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71500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CV(变异系数)= 步与步的波动程度。</a:t>
            </a:r>
            <a:r>
              <a:rPr sz="14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 越低越稳;偏高常预示平衡变差、跌倒风险升高 —— 临床最看重的早期信号。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20624"/>
            <a:ext cx="91440" cy="530352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性能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性能表现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9719" y="1691640"/>
            <a:ext cx="2606040" cy="214884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9719" y="2011680"/>
            <a:ext cx="26060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~94%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9719" y="2971800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轨迹闭合精度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1791" y="1691640"/>
            <a:ext cx="2606040" cy="214884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61791" y="2011680"/>
            <a:ext cx="26060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60 Hz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1791" y="2971800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实时 · 零累积漂移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3863" y="1691640"/>
            <a:ext cx="2606040" cy="214884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23863" y="2011680"/>
            <a:ext cx="26060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E3B341"/>
                </a:solidFill>
                <a:latin typeface="PingFang SC"/>
                <a:ea typeface="PingFang SC"/>
                <a:cs typeface="PingFang SC"/>
              </a:rPr>
              <a:t>10+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3863" y="2971800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项步态参数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85935" y="1691640"/>
            <a:ext cx="2606040" cy="214884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85935" y="2011680"/>
            <a:ext cx="26060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FF7AA8"/>
                </a:solidFill>
                <a:latin typeface="PingFang SC"/>
                <a:ea typeface="PingFang SC"/>
                <a:cs typeface="PingFang SC"/>
              </a:rPr>
              <a:t>GPS-free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5935" y="2971800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室内 / 户外通用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4114800"/>
            <a:ext cx="9262872" cy="777240"/>
          </a:xfrm>
          <a:prstGeom prst="roundRect">
            <a:avLst/>
          </a:prstGeom>
          <a:solidFill>
            <a:srgbClr val="1B2330"/>
          </a:solidFill>
          <a:ln w="1270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37360" y="4206240"/>
            <a:ext cx="8778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实测一圈:</a:t>
            </a:r>
            <a:r>
              <a:rPr sz="13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约 6 米路线自动闭合,起终点仅差 35 cm(≈6%);步态周期稳定,CV≈3%;每步落地自动校正,误差不累积。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5029200"/>
            <a:ext cx="9262872" cy="96012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737360" y="5138928"/>
            <a:ext cx="8778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3B341"/>
                </a:solidFill>
                <a:latin typeface="PingFang SC"/>
                <a:ea typeface="PingFang SC"/>
                <a:cs typeface="PingFang SC"/>
              </a:rPr>
              <a:t>📖 术语: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IMU = 惯性传感器(陀螺仪 + 加速度计);   CV = 变异系数 = 步与步波动 ÷ 平均,衡量步态稳定性。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20624"/>
            <a:ext cx="91440" cy="530352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应用场景与价值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8027" y="1783080"/>
            <a:ext cx="3429000" cy="17830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78027" y="1783080"/>
            <a:ext cx="82296" cy="1783080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4059" y="2039112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1027" y="2075688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老年照护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1027" y="2624328"/>
            <a:ext cx="2148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跌倒风险预警 · 衰弱评估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1347" y="1783080"/>
            <a:ext cx="3429000" cy="17830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1347" y="1783080"/>
            <a:ext cx="82296" cy="178308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7379" y="2039112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4347" y="2075688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康复医疗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4347" y="2624328"/>
            <a:ext cx="2148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术后 / 卒中步态评估 · 疗效追踪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4667" y="1783080"/>
            <a:ext cx="3429000" cy="17830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84667" y="1783080"/>
            <a:ext cx="82296" cy="1783080"/>
          </a:xfrm>
          <a:prstGeom prst="rect">
            <a:avLst/>
          </a:prstGeom>
          <a:solidFill>
            <a:srgbClr val="FF7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40699" y="2039112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7667" y="2075688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神经疾病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7667" y="2624328"/>
            <a:ext cx="2148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帕金森随访 · 用药效果监测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8027" y="3840480"/>
            <a:ext cx="3429000" cy="17830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78027" y="3840480"/>
            <a:ext cx="82296" cy="178308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4059" y="4096512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1027" y="4133088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运动健身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1027" y="4681728"/>
            <a:ext cx="2148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跑姿分析 · 伤病预防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1347" y="3840480"/>
            <a:ext cx="3429000" cy="17830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1347" y="3840480"/>
            <a:ext cx="82296" cy="1783080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37379" y="4096512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4347" y="4133088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远程健康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24347" y="4681728"/>
            <a:ext cx="2148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居家长期监测 · 数字疗法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4667" y="3840480"/>
            <a:ext cx="3429000" cy="1783080"/>
          </a:xfrm>
          <a:prstGeom prst="roundRect">
            <a:avLst/>
          </a:prstGeom>
          <a:solidFill>
            <a:srgbClr val="151C28"/>
          </a:solidFill>
          <a:ln w="12700">
            <a:solidFill>
              <a:srgbClr val="2A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84667" y="3840480"/>
            <a:ext cx="82296" cy="1783080"/>
          </a:xfrm>
          <a:prstGeom prst="rect">
            <a:avLst/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40699" y="4096512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7667" y="4133088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智能穿戴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27667" y="4681728"/>
            <a:ext cx="2148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智能鞋 · 消费级健康数据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20624"/>
            <a:ext cx="91440" cy="530352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产品路线 · 精度与功能逐级提升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2015" y="2057400"/>
            <a:ext cx="2468880" cy="2743200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2015" y="2313432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015" y="297180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手机验证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015" y="356616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算法已跑通
可行性验证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30655" y="4297680"/>
            <a:ext cx="1371600" cy="365760"/>
          </a:xfrm>
          <a:prstGeom prst="round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30655" y="429768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✓ 已完成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87471" y="3291840"/>
            <a:ext cx="310896" cy="274320"/>
          </a:xfrm>
          <a:prstGeom prst="rightArrow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34943" y="2057400"/>
            <a:ext cx="2468880" cy="2743200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34943" y="2313432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4943" y="297180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鞋载 6 轴 IMU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4943" y="356616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更小 · 低噪
嵌入鞋内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83583" y="4297680"/>
            <a:ext cx="1371600" cy="365760"/>
          </a:xfrm>
          <a:prstGeom prst="round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83583" y="429768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产品化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40399" y="3291840"/>
            <a:ext cx="310896" cy="274320"/>
          </a:xfrm>
          <a:prstGeom prst="rightArrow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87871" y="2057400"/>
            <a:ext cx="2468880" cy="2743200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FF7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87871" y="2313432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7AA8"/>
                </a:solidFill>
                <a:latin typeface="PingFang SC"/>
                <a:ea typeface="PingFang SC"/>
                <a:cs typeface="PingFang SC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7871" y="297180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升级 9 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7871" y="356616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加磁力计
治朝向 · 长距离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36511" y="4297680"/>
            <a:ext cx="1371600" cy="365760"/>
          </a:xfrm>
          <a:prstGeom prst="roundRect">
            <a:avLst/>
          </a:prstGeom>
          <a:solidFill>
            <a:srgbClr val="FF7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36511" y="429768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增强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793327" y="3291840"/>
            <a:ext cx="310896" cy="274320"/>
          </a:xfrm>
          <a:prstGeom prst="rightArrow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140799" y="2057400"/>
            <a:ext cx="2468880" cy="2743200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B9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0799" y="2313432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B98CFF"/>
                </a:solidFill>
                <a:latin typeface="PingFang SC"/>
                <a:ea typeface="PingFang SC"/>
                <a:cs typeface="PingFang SC"/>
              </a:rPr>
              <a:t>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0799" y="297180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双鞋方案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0799" y="356616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步宽 · 双支撑
左右对称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89439" y="4297680"/>
            <a:ext cx="1371600" cy="365760"/>
          </a:xfrm>
          <a:prstGeom prst="roundRect">
            <a:avLst/>
          </a:prstGeom>
          <a:solidFill>
            <a:srgbClr val="B9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89439" y="429768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B0E14"/>
                </a:solidFill>
                <a:latin typeface="PingFang SC"/>
                <a:ea typeface="PingFang SC"/>
                <a:cs typeface="PingFang SC"/>
              </a:rPr>
              <a:t>临床级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34924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从可行性验证 → 专用硬件 → 临床级,功能与精度持续升级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20624"/>
            <a:ext cx="91440" cy="530352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愿景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让步态成为健康的入口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887" y="1828800"/>
            <a:ext cx="3017520" cy="2286000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4CC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0887" y="20574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887" y="29718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鞋载 IMU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887" y="3456432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嵌入鞋 / 鞋垫
无感佩戴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28135" y="2825496"/>
            <a:ext cx="649224" cy="292608"/>
          </a:xfrm>
          <a:prstGeom prst="rightArrow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87087" y="1828800"/>
            <a:ext cx="3017520" cy="2286000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87087" y="20574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7087" y="29718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轨迹 + 步态数据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7087" y="3456432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实时 · 连续
每一步都被记录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14335" y="2825496"/>
            <a:ext cx="649224" cy="292608"/>
          </a:xfrm>
          <a:prstGeom prst="rightArrow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473287" y="1828800"/>
            <a:ext cx="3017520" cy="2286000"/>
          </a:xfrm>
          <a:prstGeom prst="roundRect">
            <a:avLst/>
          </a:prstGeom>
          <a:solidFill>
            <a:srgbClr val="151C28"/>
          </a:solidFill>
          <a:ln w="19050">
            <a:solidFill>
              <a:srgbClr val="FF7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73287" y="205740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❤️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3287" y="29718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健康洞察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3287" y="3456432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风险预警 · 长期随访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887" y="4434840"/>
            <a:ext cx="107899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3B341"/>
                </a:solidFill>
                <a:latin typeface="PingFang SC"/>
                <a:ea typeface="PingFang SC"/>
                <a:cs typeface="PingFang SC"/>
              </a:rPr>
              <a:t>应用:  </a:t>
            </a:r>
            <a:r>
              <a:rPr sz="13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跌倒预警  ·  康复评估  ·  疾病随访  ·  运动表现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4CC2FF"/>
                </a:solidFill>
                <a:latin typeface="PingFang SC"/>
                <a:ea typeface="PingFang SC"/>
                <a:cs typeface="PingFang SC"/>
              </a:rPr>
              <a:t>一步一数据 —— 让每一步,都成为健康数据。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FB0C8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286</Words>
  <Application>Microsoft Macintosh PowerPoint</Application>
  <PresentationFormat>Widescreen</PresentationFormat>
  <Paragraphs>93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PingFang SC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Xiaoyu Zhang</cp:lastModifiedBy>
  <cp:revision>2</cp:revision>
  <dcterms:created xsi:type="dcterms:W3CDTF">2013-01-27T09:14:16Z</dcterms:created>
  <dcterms:modified xsi:type="dcterms:W3CDTF">2026-05-31T13:48:25Z</dcterms:modified>
  <cp:category/>
</cp:coreProperties>
</file>