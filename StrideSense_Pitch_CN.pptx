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85232"/>
            <a:ext cx="12191695" cy="54864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合作提案   ·   致 FITASY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6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让每一双 Stride 读懂穿者怎么走。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  </a:t>
            </a:r>
            <a:r>
              <a:rPr sz="13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可拆传感舱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🩹  </a:t>
            </a:r>
            <a:r>
              <a:rPr sz="13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运动康复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  </a:t>
            </a:r>
            <a:r>
              <a:rPr sz="13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运动表现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19" y="55321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✅  </a:t>
            </a:r>
            <a:r>
              <a:rPr sz="13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已验证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张晓宇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①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一颗可拆传感舱,让鞋会「感知」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807" y="1828800"/>
            <a:ext cx="2743200" cy="21031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3807" y="2102205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807" y="3174796"/>
            <a:ext cx="2743200" cy="715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 + 传感舱槽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828800"/>
            <a:ext cx="2743200" cy="21031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02205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174796"/>
            <a:ext cx="2743200" cy="715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可拆 6 轴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4687" y="1828800"/>
            <a:ext cx="2743200" cy="21031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2102205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4687" y="3174796"/>
            <a:ext cx="2743200" cy="715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手机 App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56735" y="2715768"/>
            <a:ext cx="557784" cy="329184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577175" y="2715768"/>
            <a:ext cx="557784" cy="329184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607" y="4434840"/>
            <a:ext cx="3383280" cy="585216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4434840"/>
            <a:ext cx="32369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✓  </a:t>
            </a:r>
            <a:r>
              <a:rPr sz="12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贴合定制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4207" y="4434840"/>
            <a:ext cx="3383280" cy="585216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647" y="4434840"/>
            <a:ext cx="32369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✓  </a:t>
            </a:r>
            <a:r>
              <a:rPr sz="12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单材料可回收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1807" y="4434840"/>
            <a:ext cx="3383280" cy="585216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3247" y="4434840"/>
            <a:ext cx="323697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✓  </a:t>
            </a:r>
            <a:r>
              <a:rPr sz="12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单只可售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5216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可拆设计 —— 加了传感,不动可回收性。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② 运动康复人群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一图看懂:我们测什么 → 帮他们解决什么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415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3495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495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567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ACL/半月板术后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855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回赛场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有依据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023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855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LSI·单腿负荷·落地稳定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4279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4359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4359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7431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踝扭伤/反复崴脚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5719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落地更稳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少崴脚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6887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5719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落地稳定·对称·足倾角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5143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75223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5223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8295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跑步过劳伤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6583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降负荷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防复发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7751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6583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触地冲击·步频·落地角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6007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6087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6087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9159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伤后回归跑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7447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回归进度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看得见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8615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7447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跑量负荷·对称恢复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6871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56951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6951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0023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过度训练/防伤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8311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过载预警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防伤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09479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8311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累计冲击·疲劳变形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4068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44068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共同点:把过去只有运动医学/步态实验室能测的指标,装进训练鞋,让回归赛场有数据可依。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② 运动表现人群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一图看懂:我们测什么 → 帮他们解决什么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415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3495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495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567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业余跑者/马拉松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855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改善跑姿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破成绩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023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855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步频·触地·对称·轨迹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4279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4359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4359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7431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健身/健走减脂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5719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从计步到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步态质量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6887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5719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步态质量·室内轨迹·活动量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5143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75223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5223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8295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球类/团队项目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6583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负荷管理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表现分析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7751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6583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冲击负荷·失衡·跑动路径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6007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6087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6087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9159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青少年/青训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7447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科学选材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安全成长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8615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7447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跑姿发育·对称·负荷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6871" y="1737360"/>
            <a:ext cx="2121408" cy="338328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56951" y="1920240"/>
            <a:ext cx="841248" cy="841248"/>
          </a:xfrm>
          <a:prstGeom prst="ellipse">
            <a:avLst/>
          </a:prstGeom>
          <a:solidFill>
            <a:srgbClr val="1B2330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6951" y="1920240"/>
            <a:ext cx="84124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0023" y="2852928"/>
            <a:ext cx="197510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越野/徒步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8311" y="3328415"/>
            <a:ext cx="193852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地形适应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体能分配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09479" y="4334255"/>
            <a:ext cx="1536191" cy="18288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8311" y="4443983"/>
            <a:ext cx="1938527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测 </a:t>
            </a:r>
            <a:r>
              <a:rPr sz="8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上下坡步态·地形负荷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4068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44068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鞋是唯一全程接触地面的入口:足部 IMU 比手表/手环更贴近真实发力。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③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穿上 · 走动 · 查看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011680"/>
            <a:ext cx="2084831" cy="22860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07" y="2377440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07" y="347472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 穿上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2839" y="2971800"/>
            <a:ext cx="182880" cy="256032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5719" y="2011680"/>
            <a:ext cx="2084831" cy="22860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5719" y="2377440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5719" y="347472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2. 正常走 / 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0551" y="2971800"/>
            <a:ext cx="182880" cy="256032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3431" y="2011680"/>
            <a:ext cx="2084831" cy="22860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3431" y="2377440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431" y="347472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3. BLE → 手机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8263" y="2971800"/>
            <a:ext cx="182880" cy="256032"/>
          </a:xfrm>
          <a:prstGeom prst="rightArrow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21143" y="2011680"/>
            <a:ext cx="2084831" cy="22860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1143" y="2377440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1143" y="347472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4. 看板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5975" y="2971800"/>
            <a:ext cx="182880" cy="256032"/>
          </a:xfrm>
          <a:prstGeom prst="rightArrow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8855" y="2011680"/>
            <a:ext cx="2084831" cy="22860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8855" y="2377440"/>
            <a:ext cx="208483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8855" y="347472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5. 分享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无需校准。可分享报告 = 打开 B2B(诊所/教练)的钥匙。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④ 规格 → 性能 → 应用 → 能做到什么程度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商用 6 轴 IMU:指标全可量化使用 —— 给绝对值 / 给精准变化幅度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2697480" cy="420624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298448"/>
            <a:ext cx="25511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ICM-42688-P / LSM6DSO / BMI270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98448"/>
            <a:ext cx="1005840" cy="420624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98448"/>
            <a:ext cx="8595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16-bit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98448"/>
            <a:ext cx="914400" cy="420624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98448"/>
            <a:ext cx="7680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±16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298448"/>
            <a:ext cx="1234440" cy="420624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298448"/>
            <a:ext cx="10881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±2000 dps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298448"/>
            <a:ext cx="2103120" cy="420624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298448"/>
            <a:ext cx="19568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ODR(采样率) 可达 ≥1 kHz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298448"/>
            <a:ext cx="29260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实体图与价格见硬件成本页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74519"/>
            <a:ext cx="10908792" cy="365760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874519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874519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可实现精度(到什么程度)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74519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对应应用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874519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能做到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267712"/>
            <a:ext cx="10908792" cy="315468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26771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26771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±1–2 步/分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26771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配速节奏 / 跑姿再训练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77856" y="229057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77856" y="227228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587752"/>
            <a:ext cx="10908792" cy="315468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58775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58775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±2–5%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58775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步态对称 / 伤侧负荷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77856" y="261061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77856" y="259232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2907792"/>
            <a:ext cx="10908792" cy="315468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290779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触地时间 GCT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90779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±5–15 ms(需≥200Hz)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90779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跑步经济 / 落地负荷不对称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77856" y="293065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7856" y="291236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227832"/>
            <a:ext cx="10908792" cy="315468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22783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支撑/摆动相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22783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占空比 ±2–3%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22783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步态周期 / 回归评估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77856" y="325069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77856" y="323240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547872"/>
            <a:ext cx="10908792" cy="315468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54787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步态变异 CV 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354787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±0.5–1%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54787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疲劳致变异↑ / 落地稳定性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77856" y="357073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77856" y="355244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3867912"/>
            <a:ext cx="10908792" cy="315468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386791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左右对称 ◆◆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86791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±2–4%(双脚差分)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86791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ACL/踝术后 LSI · 伤侧负荷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77856" y="3890772"/>
            <a:ext cx="1097280" cy="256032"/>
          </a:xfrm>
          <a:prstGeom prst="roundRect">
            <a:avLst/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77856" y="387248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绝对值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4187952"/>
            <a:ext cx="10908792" cy="315468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418795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18795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±3–8%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418795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回归跑配速进展 · 训练配速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77856" y="4210812"/>
            <a:ext cx="1097280" cy="256032"/>
          </a:xfrm>
          <a:prstGeom prst="roundRect">
            <a:avLst/>
          </a:prstGeom>
          <a:solidFill>
            <a:srgbClr val="4CC2FF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77856" y="419252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4507992"/>
            <a:ext cx="10908792" cy="315468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4507992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抬脚高度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0" y="4507992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±1–3 cm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507992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疲劳拖步 / 越野·障碍廓清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77856" y="4530852"/>
            <a:ext cx="1097280" cy="256032"/>
          </a:xfrm>
          <a:prstGeom prst="roundRect">
            <a:avLst/>
          </a:prstGeom>
          <a:solidFill>
            <a:srgbClr val="4CC2FF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77856" y="4512564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4828031"/>
            <a:ext cx="10908792" cy="315468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4828031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足倾角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4828031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±1–3°触地/±3–8°摆动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4828031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落地角 / 鞋楦·鞋垫适配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277856" y="4850892"/>
            <a:ext cx="1097280" cy="256032"/>
          </a:xfrm>
          <a:prstGeom prst="roundRect">
            <a:avLst/>
          </a:prstGeom>
          <a:solidFill>
            <a:srgbClr val="4CC2FF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77856" y="4832603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148071"/>
            <a:ext cx="10908792" cy="315468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148071"/>
            <a:ext cx="23774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运动轨迹 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5148071"/>
            <a:ext cx="365760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闭合误差 行程 1–5%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5148071"/>
            <a:ext cx="3291840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跑动路径 · 折返变向 · 场地热区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277856" y="5170931"/>
            <a:ext cx="1097280" cy="256032"/>
          </a:xfrm>
          <a:prstGeom prst="roundRect">
            <a:avLst/>
          </a:prstGeom>
          <a:solidFill>
            <a:srgbClr val="4CC2FF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77856" y="5152643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变化幅度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522975"/>
            <a:ext cx="10908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绝对值</a:t>
            </a: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= 直接给准确的绝对数值(例:步频 168 步/分);    </a:t>
            </a:r>
            <a:r>
              <a:rPr sz="1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变化幅度</a:t>
            </a: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= 同样可量化使用 —— 既显示绝对值,也给出「相比上次 / 对侧」的精准变化幅度。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两类都完全能用。</a:t>
            </a: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差别仅在:变化幅度类(高度/距离/角度/轨迹)绝对值略有波动、需一次校准,但「变化」精准 —— 像恒偏 2kg 的体重秤,称不准绝对值,「这周瘦 1kg」却很准。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◆ = 我们已用手机实测;余为文献上界,需 pod 复核。异常/受限步态(术后跛行、极慢速)下 ZUPT 假设易失效,精度需重验。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⑤ Demo · 真实步行验证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手机 6 轴绑脚已跑通(算法与商用 pod 通用)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908792" cy="457200"/>
          </a:xfrm>
          <a:prstGeom prst="roundRect">
            <a:avLst/>
          </a:prstGeom>
          <a:solidFill>
            <a:srgbClr val="1B2330"/>
          </a:solidFill>
          <a:ln w="1397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CV(步态变异系数)</a:t>
            </a: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= 步与步的波动 ÷ 平均;越低越稳。运动中 CV 升高 = 疲劳 / 落地失稳的信号。</a:t>
            </a:r>
          </a:p>
        </p:txBody>
      </p:sp>
      <p:pic>
        <p:nvPicPr>
          <p:cNvPr id="7" name="Picture 6" descr="fig_traj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3197013" cy="2697480"/>
          </a:xfrm>
          <a:prstGeom prst="rect">
            <a:avLst/>
          </a:prstGeom>
        </p:spPr>
      </p:pic>
      <p:pic>
        <p:nvPicPr>
          <p:cNvPr id="8" name="Picture 7" descr="fig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2505456"/>
            <a:ext cx="4206240" cy="1490921"/>
          </a:xfrm>
          <a:prstGeom prst="rect">
            <a:avLst/>
          </a:prstGeom>
        </p:spPr>
      </p:pic>
      <p:pic>
        <p:nvPicPr>
          <p:cNvPr id="9" name="Picture 8" descr="fig_traj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874519"/>
            <a:ext cx="3197013" cy="2697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754880"/>
            <a:ext cx="10908792" cy="566928"/>
          </a:xfrm>
          <a:prstGeom prst="roundRect">
            <a:avLst/>
          </a:prstGeom>
          <a:solidFill>
            <a:srgbClr val="151C28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08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手机 → pod 升级:    </a:t>
            </a:r>
            <a:r>
              <a:rPr sz="10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同档传感器</a:t>
            </a: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   ·    </a:t>
            </a: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采样率 100→≥500Hz</a:t>
            </a: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   ·    </a:t>
            </a: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软绑→刚性安装</a:t>
            </a: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   ·    </a:t>
            </a: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弱→硬时基同步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68112"/>
            <a:ext cx="10908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CV 图:</a:t>
            </a: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绿 = 你的真实步行(很稳,CV 2.6%);红 = 我做的「不稳」示意对照,</a:t>
            </a:r>
            <a:r>
              <a:rPr sz="11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不是你的数据。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⑥ 价值 · 硬件成本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商用 6 轴 IMU 仅几美元,一双双脚成本可控</a:t>
            </a:r>
          </a:p>
        </p:txBody>
      </p:sp>
      <p:pic>
        <p:nvPicPr>
          <p:cNvPr id="5" name="Picture 4" descr="chip_i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18499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4311" y="3154680"/>
            <a:ext cx="2084831" cy="71323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311" y="3246120"/>
            <a:ext cx="20848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BLE MCU/模组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" y="3538728"/>
            <a:ext cx="20848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$2.5–4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8871" y="3154680"/>
            <a:ext cx="2084831" cy="71323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8871" y="3246120"/>
            <a:ext cx="20848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电池 40–100mAh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8871" y="3538728"/>
            <a:ext cx="20848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$1.2–1.8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3431" y="3154680"/>
            <a:ext cx="2084831" cy="71323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3431" y="3246120"/>
            <a:ext cx="20848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PCB+被动+电源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3431" y="3538728"/>
            <a:ext cx="20848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$2–3.5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7991" y="3154680"/>
            <a:ext cx="2084831" cy="71323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7991" y="3246120"/>
            <a:ext cx="20848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外壳/防水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991" y="3538728"/>
            <a:ext cx="20848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$0.8–1.5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2551" y="3154680"/>
            <a:ext cx="2084831" cy="713232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2551" y="3246120"/>
            <a:ext cx="20848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装配+测试+校准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2551" y="3538728"/>
            <a:ext cx="208483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$1.5–3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160520"/>
            <a:ext cx="4480560" cy="96012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2611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出厂直接成本(物料+装配)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$9–15 / pod → $18–30 / 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4480560" cy="96012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611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落地成本(+模具/认证/物流/良率)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177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约 $30–45 / 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0352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0352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对照 Smart-Stride 溢价 $99–199/双 —— 硬件每双净贡献毛利约 $60–150。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注:1k 量级采购价;未含渠道。均为示意,需与 Fitasy 共建真实报价。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⑥ 价值 · 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买鞋赚硬件钱 · App 免费帮你卖鞋 · 增值服务赚经常性钱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279" y="1828800"/>
            <a:ext cx="3456432" cy="310896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8279" y="1993392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6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279" y="2816352"/>
            <a:ext cx="3456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智能鞋 Smart-Stride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159" y="3310128"/>
            <a:ext cx="309067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售价 </a:t>
            </a:r>
            <a:r>
              <a:rPr sz="1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+$99–199 / 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成本 </a:t>
            </a: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出厂$18–30·落地$30–45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毛利 </a:t>
            </a: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≈ $60–150 / 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759" y="4434840"/>
            <a:ext cx="2633472" cy="384048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039" y="4434840"/>
            <a:ext cx="2724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硬件收入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28719" y="3236976"/>
            <a:ext cx="374904" cy="29260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7631" y="1828800"/>
            <a:ext cx="3456432" cy="310896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7631" y="1993392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6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631" y="2816352"/>
            <a:ext cx="3456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手机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511" y="3310128"/>
            <a:ext cx="309067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买鞋即会员</a:t>
            </a: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(仅买鞋者)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核心指标 </a:t>
            </a: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永久免费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步频·GCT·对称 LSI·CV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9111" y="4434840"/>
            <a:ext cx="2633472" cy="384048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391" y="4434840"/>
            <a:ext cx="2724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免费 = 卖鞋利器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8071" y="3236976"/>
            <a:ext cx="374904" cy="29260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6983" y="1828800"/>
            <a:ext cx="3456432" cy="310896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6983" y="1993392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6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6983" y="2816352"/>
            <a:ext cx="3456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增值服务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9863" y="3310128"/>
            <a:ext cx="309067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个人 Pro </a:t>
            </a:r>
            <a:r>
              <a:rPr sz="1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$7.99–9.99 / 月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专业 B2B </a:t>
            </a:r>
            <a:r>
              <a:rPr sz="12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$50–200 / 席·月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运动医学 / 理疗 / 球队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8463" y="4434840"/>
            <a:ext cx="2633472" cy="384048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2743" y="4434840"/>
            <a:ext cx="2724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经常性收入 · 毛利引擎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4711" y="28346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解锁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4063" y="28346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38928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38928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软件帮你卖鞋:消费端免费、不靠订阅;经常性收入 = Pro + B2B(B2B 解耦,不被「买鞋」挡住)。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25312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我们的回报 = 每双软件授权分成 + B2B 收入分成 → 投入随销量增长。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⑦ 时间线 · 三步走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集成验证 → 试用稳定 → 商业推广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719" y="1691640"/>
            <a:ext cx="3584448" cy="324612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9719" y="1691640"/>
            <a:ext cx="3584448" cy="4572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2599" y="1691640"/>
            <a:ext cx="2304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① 集成 + 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1167" y="169164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0–4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719" y="2240280"/>
            <a:ext cx="358444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319" y="3264408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767" y="3264408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👟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6 轴 pod 嵌入 Fitasy 鞋(共建舱槽)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319" y="3794760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767" y="3794760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🧪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实验室/跑步机受控测试·对照动捕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319" y="4325112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767" y="4325112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✅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验证精度:步频·GCT·LSI·CV·轨迹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1599" y="3177540"/>
            <a:ext cx="146303" cy="274320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3623" y="1691640"/>
            <a:ext cx="3584448" cy="324612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623" y="1691640"/>
            <a:ext cx="3584448" cy="457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6503" y="1691640"/>
            <a:ext cx="2304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② 试用 + 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5071" y="169164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4–8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3623" y="2240280"/>
            <a:ext cx="358444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2223" y="3264408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7671" y="3264408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🏃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招测试者(跑者/伤后回归)长期试用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2223" y="3794760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7671" y="3794760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⏳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日常佩戴数周–数月·真实场景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2223" y="4325112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7671" y="4325112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✅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稳定可用:续航·蓝牙·耐久·数据一致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15503" y="3177540"/>
            <a:ext cx="146303" cy="274320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7527" y="1691640"/>
            <a:ext cx="3584448" cy="324612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7527" y="1691640"/>
            <a:ext cx="3584448" cy="4572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0407" y="1691640"/>
            <a:ext cx="2304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③ 商业推广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8975" y="1691640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8–12 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7527" y="2240280"/>
            <a:ext cx="358444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6127" y="3264408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91575" y="3264408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🛒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Smart-Stride 上市·渠道铺开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6127" y="3794760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1575" y="3794760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💰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会员 / Pro / B2B 变现开启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6127" y="4325112"/>
            <a:ext cx="3127248" cy="475488"/>
          </a:xfrm>
          <a:prstGeom prst="roundRect">
            <a:avLst/>
          </a:prstGeom>
          <a:solidFill>
            <a:srgbClr val="1B2330"/>
          </a:solidFill>
          <a:ln w="1016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1575" y="4325112"/>
            <a:ext cx="3017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📈  </a:t>
            </a:r>
            <a:r>
              <a:rPr sz="1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规模·复购·订阅转化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21208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21208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投入随阶段递进:先验证「测得准」→ 再验证「用得稳」→ 才商业推广,风险可控。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我们的请求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对你核心低风险,平台高回报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754880" cy="146304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Fitasy 拥有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鞋 · 品牌 · 渠道 · 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2" y="1554480"/>
            <a:ext cx="4754880" cy="146304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我们拥有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19456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传感 · 算法 · App · IP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2011680"/>
            <a:ext cx="1097280" cy="64008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011680"/>
            <a:ext cx="1097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887" y="342900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342900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9607" y="3429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共同设计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传感舱槽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207" y="342900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342900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2927" y="3429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提供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试点鞋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3429000"/>
            <a:ext cx="3383280" cy="1371600"/>
          </a:xfrm>
          <a:prstGeom prst="roundRect">
            <a:avLst/>
          </a:prstGeom>
          <a:solidFill>
            <a:srgbClr val="151C28"/>
          </a:solidFill>
          <a:ln w="1778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3429000"/>
            <a:ext cx="1005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247" y="342900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品类独占 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数据共管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下一步:敲定传感舱槽 + 试点。投入可控、扩展弹性大。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