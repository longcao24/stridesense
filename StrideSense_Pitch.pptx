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85232"/>
            <a:ext cx="12191695" cy="54864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PARTNERSHIP PROPOSAL   ·   FOR FITASY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StrideSense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Make every Stride understand how its wearer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  </a:t>
            </a:r>
            <a:r>
              <a:rPr sz="13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Removable pod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🩺  </a:t>
            </a:r>
            <a:r>
              <a:rPr sz="13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Rehab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🏃  </a:t>
            </a:r>
            <a:r>
              <a:rPr sz="13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19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✅  </a:t>
            </a:r>
            <a:r>
              <a:rPr sz="13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Proven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Xiaoyu Zhang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①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A pop-in pod that makes the shoe sense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1828800"/>
            <a:ext cx="2743200" cy="214884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3807" y="2129637"/>
            <a:ext cx="2743200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807" y="3247034"/>
            <a:ext cx="2743200" cy="730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Stride + pod cavity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828800"/>
            <a:ext cx="2743200" cy="214884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29637"/>
            <a:ext cx="2743200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247034"/>
            <a:ext cx="2743200" cy="730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Removable 6-axis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4687" y="1828800"/>
            <a:ext cx="2743200" cy="214884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2129637"/>
            <a:ext cx="2743200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4687" y="3247034"/>
            <a:ext cx="2743200" cy="730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Phone app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56735" y="2738627"/>
            <a:ext cx="557784" cy="329184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577175" y="2738627"/>
            <a:ext cx="557784" cy="329184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607" y="4526280"/>
            <a:ext cx="3383280" cy="603504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335" y="4526280"/>
            <a:ext cx="3200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✓  </a:t>
            </a:r>
            <a:r>
              <a:rPr sz="12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Custom 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4207" y="4526280"/>
            <a:ext cx="3383280" cy="603504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3935" y="4526280"/>
            <a:ext cx="3200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✓  </a:t>
            </a:r>
            <a:r>
              <a:rPr sz="12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Single-material recyclable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1807" y="4526280"/>
            <a:ext cx="3383280" cy="603504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1535" y="4526280"/>
            <a:ext cx="3200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✓  </a:t>
            </a:r>
            <a:r>
              <a:rPr sz="12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Single-shoe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97880"/>
            <a:ext cx="10908792" cy="566928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Removable by design — sensing added, recyclability untouched.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② WHAT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Two markets, one 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029200" cy="31546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029200" cy="54864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🩺  REHAB  ·  anchor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12848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🚶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Gait: speed · cadence · stride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9776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9776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📉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Fall-risk (variability)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46704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346704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🦶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Clearance · 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13631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913631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🔁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Recovery: return-to-walk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1508760"/>
            <a:ext cx="5029200" cy="31546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56832" y="1508760"/>
            <a:ext cx="5029200" cy="548640"/>
          </a:xfrm>
          <a:prstGeom prst="round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🏃  PERFORMANCE  ·  expansion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1152" y="2212848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212848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Running: cadence · contact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1152" y="2779776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779776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💥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Impact · loading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3346704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346704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↔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Left–right asymmetry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3913631"/>
            <a:ext cx="4480560" cy="45720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913631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🗺  </a:t>
            </a:r>
            <a:r>
              <a:rPr sz="12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Distance · trajectory</a:t>
            </a:r>
          </a:p>
        </p:txBody>
      </p:sp>
      <p:sp>
        <p:nvSpPr>
          <p:cNvPr id="27" name="Oval 26"/>
          <p:cNvSpPr/>
          <p:nvPr/>
        </p:nvSpPr>
        <p:spPr>
          <a:xfrm>
            <a:off x="5504688" y="2697480"/>
            <a:ext cx="1161288" cy="1161288"/>
          </a:xfrm>
          <a:prstGeom prst="ellipse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2697480"/>
            <a:ext cx="1161288" cy="1161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ONE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10908792" cy="566928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One pod → trajectory + clinical gait.  A category of one — no rival owns both.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② WHY IT MATTERS TO FITASY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From a one-time sale to a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4206240" cy="178308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9F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  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One-time shoe sale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40680" y="2331720"/>
            <a:ext cx="1325880" cy="38404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1600200"/>
            <a:ext cx="4206240" cy="178308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828800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📱  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8892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Recurring health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287" y="3794760"/>
            <a:ext cx="2606040" cy="141732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" y="4014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46634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Recurring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647" y="3794760"/>
            <a:ext cx="2606040" cy="141732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4014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647" y="46634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Retention · LTV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794760"/>
            <a:ext cx="2606040" cy="141732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4014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46634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B2B 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3367" y="3794760"/>
            <a:ext cx="2606040" cy="141732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3367" y="4014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3367" y="46634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Software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B341"/>
                </a:solidFill>
                <a:latin typeface="Helvetica Neue"/>
                <a:ea typeface="Helvetica Neue"/>
                <a:cs typeface="Helvetica Neue"/>
              </a:rPr>
              <a:t>Illustrative: </a:t>
            </a:r>
            <a:r>
              <a:rPr sz="125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$[X]/mo tier · +$[Y] Smart-Stride SKU · ~[N]× LTV — we carry firmware/support.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③ HOW IT'S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Wear · walk · 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057400"/>
            <a:ext cx="2084831" cy="237744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07" y="2441448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07" y="356616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1. Wear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2839" y="3063240"/>
            <a:ext cx="182880" cy="256032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5719" y="2057400"/>
            <a:ext cx="2084831" cy="237744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5719" y="2441448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5719" y="356616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2. Walk / run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0551" y="3063240"/>
            <a:ext cx="182880" cy="256032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3431" y="2057400"/>
            <a:ext cx="2084831" cy="237744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3431" y="2441448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431" y="356616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3. BLE → phone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8263" y="3063240"/>
            <a:ext cx="182880" cy="256032"/>
          </a:xfrm>
          <a:prstGeom prst="rightArrow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21143" y="2057400"/>
            <a:ext cx="2084831" cy="237744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1143" y="2441448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1143" y="356616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4. Dashboard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5975" y="3063240"/>
            <a:ext cx="182880" cy="256032"/>
          </a:xfrm>
          <a:prstGeom prst="rightArrow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8855" y="2057400"/>
            <a:ext cx="2084831" cy="237744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8855" y="2441448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8855" y="356616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5. Share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908792" cy="566928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No calibration. The shareable report opens the B2B door.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④ SPECS &amp; 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Honest ranges — green / amber / grey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4583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4311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6-axis 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9959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9687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16-bit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5335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5063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±16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0711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0439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±2000 dps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087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5815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100–500 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81463" y="1463040"/>
            <a:ext cx="1755648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91191" y="1463040"/>
            <a:ext cx="15727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·  </a:t>
            </a: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ZUPT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31720"/>
            <a:ext cx="10908792" cy="107899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118872" cy="10789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31720"/>
            <a:ext cx="182880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FB950"/>
                </a:solidFill>
                <a:latin typeface="Helvetica Neue"/>
                <a:ea typeface="Helvetica Neue"/>
                <a:cs typeface="Helvetica Neue"/>
              </a:rPr>
              <a:t>RELIABLE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514600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569463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Cadence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&lt;2%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514600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2569463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Speed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ICC .83–.94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98464" y="2514600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2569463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Clearance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~8–9 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6096" y="2514600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2569463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Foot pitch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0.6–4°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53728" y="2514600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2569463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Trajectory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0.5–2%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38728"/>
            <a:ext cx="10908792" cy="107899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538728"/>
            <a:ext cx="118872" cy="107899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38728"/>
            <a:ext cx="182880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3B341"/>
                </a:solidFill>
                <a:latin typeface="Helvetica Neue"/>
                <a:ea typeface="Helvetica Neue"/>
                <a:cs typeface="Helvetica Neue"/>
              </a:rPr>
              <a:t>SPEED-DEP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721608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776472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 length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±7–13 cm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3721608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3776472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Run GCT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15–30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745736"/>
            <a:ext cx="10908792" cy="107899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745736"/>
            <a:ext cx="118872" cy="1078992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745736"/>
            <a:ext cx="182880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A90"/>
                </a:solidFill>
                <a:latin typeface="Helvetica Neue"/>
                <a:ea typeface="Helvetica Neue"/>
                <a:cs typeface="Helvetica Neue"/>
              </a:rPr>
              <a:t>TREND-ONLY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928616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4983480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Gait CV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ICC ~0–.67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4928616"/>
            <a:ext cx="1591056" cy="71323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4983480"/>
            <a:ext cx="15910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L–R symmetry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Trend-only metrics = screening signals, never precision medical claims.  Confirmed on real pod in Phase 2.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⑤ CURRENT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Real foot data — the loop closes itself</a:t>
            </a:r>
          </a:p>
        </p:txBody>
      </p:sp>
      <p:pic>
        <p:nvPicPr>
          <p:cNvPr id="5" name="Picture 4" descr="fig_traj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08760"/>
            <a:ext cx="3522133" cy="2971800"/>
          </a:xfrm>
          <a:prstGeom prst="rect">
            <a:avLst/>
          </a:prstGeom>
        </p:spPr>
      </p:pic>
      <p:pic>
        <p:nvPicPr>
          <p:cNvPr id="6" name="Picture 5" descr="fig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94560"/>
            <a:ext cx="4206240" cy="1490921"/>
          </a:xfrm>
          <a:prstGeom prst="rect">
            <a:avLst/>
          </a:prstGeom>
        </p:spPr>
      </p:pic>
      <p:pic>
        <p:nvPicPr>
          <p:cNvPr id="7" name="Picture 6" descr="fig_traj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508760"/>
            <a:ext cx="3522133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5167" y="4800600"/>
            <a:ext cx="3383280" cy="9144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48006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FB950"/>
                </a:solidFill>
                <a:latin typeface="Helvetica Neue"/>
                <a:ea typeface="Helvetica Neue"/>
                <a:cs typeface="Helvetica Neue"/>
              </a:rPr>
              <a:t>~94%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807" y="48006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loop closure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4800600"/>
            <a:ext cx="3383280" cy="9144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48006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6-axis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8006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only — no GPS/cam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4800600"/>
            <a:ext cx="3383280" cy="9144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48006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7AA8"/>
                </a:solidFill>
                <a:latin typeface="Helvetica Neue"/>
                <a:ea typeface="Helvetica Neue"/>
                <a:cs typeface="Helvetica Neue"/>
              </a:rPr>
              <a:t>ZUPT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4887" y="48006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drift resets each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Phone = clean 6-axis proxy · same IMU + algorithm as the pod → transfer risk is integration, not algorithm.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⑥ PLAN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Pilot-first · phase-gated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143" y="4736592"/>
            <a:ext cx="11265408" cy="45720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8863" y="1828800"/>
            <a:ext cx="210312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863" y="1828800"/>
            <a:ext cx="2103120" cy="47548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863" y="1828800"/>
            <a:ext cx="2103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863" y="243230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2026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023" y="2971800"/>
            <a:ext cx="18287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Algorithm proven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0343" y="4023360"/>
            <a:ext cx="1280160" cy="38404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343" y="402336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✓ DONE</a:t>
            </a:r>
          </a:p>
        </p:txBody>
      </p:sp>
      <p:sp>
        <p:nvSpPr>
          <p:cNvPr id="13" name="Diamond 12"/>
          <p:cNvSpPr/>
          <p:nvPr/>
        </p:nvSpPr>
        <p:spPr>
          <a:xfrm>
            <a:off x="1505559" y="4681728"/>
            <a:ext cx="164592" cy="164592"/>
          </a:xfrm>
          <a:prstGeom prst="diamond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76575" y="1828800"/>
            <a:ext cx="210312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76575" y="1828800"/>
            <a:ext cx="2103120" cy="475488"/>
          </a:xfrm>
          <a:prstGeom prst="round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6575" y="1828800"/>
            <a:ext cx="2103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6575" y="243230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2026 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2971800"/>
            <a:ext cx="18287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Pod + cavity prototype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8055" y="4023360"/>
            <a:ext cx="1280160" cy="384048"/>
          </a:xfrm>
          <a:prstGeom prst="round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8055" y="402336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21" name="Diamond 20"/>
          <p:cNvSpPr/>
          <p:nvPr/>
        </p:nvSpPr>
        <p:spPr>
          <a:xfrm>
            <a:off x="3773271" y="4681728"/>
            <a:ext cx="164592" cy="164592"/>
          </a:xfrm>
          <a:prstGeom prst="diamond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4287" y="1828800"/>
            <a:ext cx="210312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44287" y="1828800"/>
            <a:ext cx="2103120" cy="475488"/>
          </a:xfrm>
          <a:prstGeom prst="round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4287" y="1828800"/>
            <a:ext cx="2103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4287" y="243230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2027 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447" y="2971800"/>
            <a:ext cx="18287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Rehab + sport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5767" y="4023360"/>
            <a:ext cx="1280160" cy="384048"/>
          </a:xfrm>
          <a:prstGeom prst="round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5767" y="402336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29" name="Diamond 28"/>
          <p:cNvSpPr/>
          <p:nvPr/>
        </p:nvSpPr>
        <p:spPr>
          <a:xfrm>
            <a:off x="6040983" y="4681728"/>
            <a:ext cx="164592" cy="164592"/>
          </a:xfrm>
          <a:prstGeom prst="diamond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1999" y="1828800"/>
            <a:ext cx="210312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1999" y="1828800"/>
            <a:ext cx="2103120" cy="475488"/>
          </a:xfrm>
          <a:prstGeom prst="roundRect">
            <a:avLst/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1999" y="1828800"/>
            <a:ext cx="2103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1999" y="243230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2027 H2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9159" y="2971800"/>
            <a:ext cx="18287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9-axis · clinical-grade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3479" y="4023360"/>
            <a:ext cx="1280160" cy="384048"/>
          </a:xfrm>
          <a:prstGeom prst="roundRect">
            <a:avLst/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3479" y="402336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37" name="Diamond 36"/>
          <p:cNvSpPr/>
          <p:nvPr/>
        </p:nvSpPr>
        <p:spPr>
          <a:xfrm>
            <a:off x="8308695" y="4681728"/>
            <a:ext cx="164592" cy="164592"/>
          </a:xfrm>
          <a:prstGeom prst="diamond">
            <a:avLst/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79711" y="1828800"/>
            <a:ext cx="210312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79711" y="1828800"/>
            <a:ext cx="2103120" cy="475488"/>
          </a:xfrm>
          <a:prstGeom prst="round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9711" y="1828800"/>
            <a:ext cx="2103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9711" y="243230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2028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6871" y="2971800"/>
            <a:ext cx="18287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Launch + subscription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91191" y="4023360"/>
            <a:ext cx="1280160" cy="384048"/>
          </a:xfrm>
          <a:prstGeom prst="round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91191" y="402336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45" name="Diamond 44"/>
          <p:cNvSpPr/>
          <p:nvPr/>
        </p:nvSpPr>
        <p:spPr>
          <a:xfrm>
            <a:off x="10576407" y="4681728"/>
            <a:ext cx="164592" cy="164592"/>
          </a:xfrm>
          <a:prstGeom prst="diamond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5212080"/>
            <a:ext cx="10908792" cy="566928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21208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Fund one step at a time.  Wellness-first launch — no medical clearance needed.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Low risk to your core, high upside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754880" cy="15544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7AA8"/>
                </a:solidFill>
                <a:latin typeface="Helvetica Neue"/>
                <a:ea typeface="Helvetica Neue"/>
                <a:cs typeface="Helvetica Neue"/>
              </a:rPr>
              <a:t>Fitasy owns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Shoe · brand · channel ·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2" y="1600200"/>
            <a:ext cx="4754880" cy="15544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CC2FF"/>
                </a:solidFill>
                <a:latin typeface="Helvetica Neue"/>
                <a:ea typeface="Helvetica Neue"/>
                <a:cs typeface="Helvetica Neue"/>
              </a:rPr>
              <a:t>We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240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Sensing · algorithms · app · IP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2075688"/>
            <a:ext cx="1097280" cy="64008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075688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0B0E14"/>
                </a:solidFill>
                <a:latin typeface="Helvetica Neue"/>
                <a:ea typeface="Helvetica Neue"/>
                <a:cs typeface="Helvetica Neue"/>
              </a:rPr>
              <a:t>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887" y="361188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361188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9607" y="361188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Co-design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pod cavity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207" y="361188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361188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2927" y="361188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Provide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pilot 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361188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361188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247" y="361188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Exclusivity +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co-owned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908792" cy="566928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Helvetica Neue"/>
                <a:ea typeface="Helvetica Neue"/>
                <a:cs typeface="Helvetica Neue"/>
              </a:rPr>
              <a:t>Next step: scope the cavity + pilot. Bounded to test, high optionality to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55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0C8"/>
                </a:solidFill>
                <a:latin typeface="Helvetica Neue"/>
                <a:ea typeface="Helvetica Neue"/>
                <a:cs typeface="Helvetica Neue"/>
              </a:rPr>
              <a:t>StrideSense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