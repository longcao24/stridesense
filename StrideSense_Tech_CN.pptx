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jp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30368"/>
            <a:ext cx="12191695" cy="54864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手机 Demo · 规格与精度对比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8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StrideSense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足部 6 轴 IMU · 手机 Demo 已跑通(可行性)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85615"/>
            <a:ext cx="10927080" cy="493776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85615"/>
            <a:ext cx="10515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⚠️ 痛点:左右不对称 · 触地过载 · 落地不稳 —— 肉眼看不见,靠感觉练 = 伤 + 停滞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现状:一台 iPhone 还原轨迹与步态  →  升级:商用 6 轴 IMU 嵌入 Fitasy 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6811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📱  </a:t>
            </a:r>
            <a:r>
              <a:rPr sz="15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Demo 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546811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📊  </a:t>
            </a:r>
            <a:r>
              <a:rPr sz="15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精度与能力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546811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🚀  </a:t>
            </a:r>
            <a:r>
              <a:rPr sz="15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未来应用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张晓宇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① 现有 Demo · 设备与效果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手机 6 轴 IMU(加速度计 + 陀螺仪)记录真人步行,还原 2D / 3D 轨迹</a:t>
            </a:r>
          </a:p>
        </p:txBody>
      </p:sp>
      <p:pic>
        <p:nvPicPr>
          <p:cNvPr id="5" name="Picture 4" descr="imu_s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115568"/>
            <a:ext cx="8503920" cy="2042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57976" y="3236976"/>
            <a:ext cx="1900237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📹 真人实录</a:t>
            </a:r>
          </a:p>
        </p:txBody>
      </p:sp>
      <p:pic>
        <p:nvPicPr>
          <p:cNvPr id="7" name="vide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78016" y="3456432"/>
            <a:ext cx="1260157" cy="224028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174750" y="4457700"/>
            <a:ext cx="384048" cy="237744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5374" y="3236976"/>
            <a:ext cx="2167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还原 2D 轨迹 · ●起→○终</a:t>
            </a:r>
          </a:p>
        </p:txBody>
      </p:sp>
      <p:pic>
        <p:nvPicPr>
          <p:cNvPr id="10" name="Picture 9" descr="fig_traj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374" y="3456432"/>
            <a:ext cx="2167467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6550" y="3236976"/>
            <a:ext cx="2167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3D 轨迹</a:t>
            </a:r>
          </a:p>
        </p:txBody>
      </p:sp>
      <p:pic>
        <p:nvPicPr>
          <p:cNvPr id="12" name="Picture 11" descr="fig_traj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550" y="3456432"/>
            <a:ext cx="2167467" cy="1828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5769864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69864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一台手机(加速度计 + 陀螺仪)就能还原一只脚的完整步态轨迹 —— 换成鞋里的商用 pod,只会更稳、更全。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口径:单次步行 ~8.6s · 6 步 · 60Hz · 开放路径(非闭环)· 步时 CV≈1.7%;展示可行性与轨迹还原,未做动捕真值标定。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2/6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② Demo 传感器 vs 商用 6 轴 IMU · 精度与能力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各特征精度,够不够当「绝对量化指标」用?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25296"/>
            <a:ext cx="5349240" cy="1024128"/>
          </a:xfrm>
          <a:prstGeom prst="roundRect">
            <a:avLst/>
          </a:prstGeom>
          <a:solidFill>
            <a:srgbClr val="151C28"/>
          </a:solidFill>
          <a:ln w="1651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8016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📱 手机 Demo · iPhone 内置 6 轴(Bosch)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09344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~60 Hz · 16-bit · 量程固定 · 软绑 · 弱同步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↔ 与 pod 同类 6 轴、同一套算法,只是采样更低、嵌得软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25296"/>
            <a:ext cx="5349240" cy="1024128"/>
          </a:xfrm>
          <a:prstGeom prst="roundRect">
            <a:avLst/>
          </a:prstGeom>
          <a:solidFill>
            <a:srgbClr val="151C28"/>
          </a:solidFill>
          <a:ln w="1651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28016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商用 6 轴 IMU pod(实物)</a:t>
            </a:r>
          </a:p>
        </p:txBody>
      </p:sp>
      <p:pic>
        <p:nvPicPr>
          <p:cNvPr id="10" name="Picture 9" descr="chip_i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45920"/>
            <a:ext cx="3108960" cy="5718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0" y="13716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16-bit · ±16g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±2000 dps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ODR ≥1 kHz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刚性嵌鞋·硬时基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22576"/>
            <a:ext cx="1783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11 项能力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322576"/>
            <a:ext cx="4480559" cy="329184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322576"/>
            <a:ext cx="448055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✓ 7 项 · 可当绝对指标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322576"/>
            <a:ext cx="2560320" cy="329184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322576"/>
            <a:ext cx="2560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~ 4 项 · 看变化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79776"/>
            <a:ext cx="10908792" cy="329184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79776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779776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手机 demo 精度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779776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商用 pod 精度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779776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能力(够当指标?)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45536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45536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步频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14553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±2–3 步/分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14553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±1–2 步/分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3172968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3145536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06140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406140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步态周期 stride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40614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±20–40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40614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±5–15 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96528" y="3433572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96528" y="3406140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666744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66744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步态变异 CV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366674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±1–1.5%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66674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±0.5–1%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96528" y="3694176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3666744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927348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927348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触地时间 GCT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392734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±30–60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92734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±5–15 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96528" y="3954780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96528" y="3927348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187952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187952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支撑/摆动相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418795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±5–8%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418795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±2–3%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96528" y="4215384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96528" y="4187952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448556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448556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步长 stride length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444855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±8–15%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444855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±2–5%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96528" y="4475988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96528" y="4448556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4709160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4709160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步速 gait speed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470916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±10–20%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470916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±3–8%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96528" y="4736592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96528" y="4709160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4969764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4969764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左右对称 LSI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54680" y="496976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需双脚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80" y="496976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±2–4%(双脚差分)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96528" y="4997196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96528" y="4969764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230368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5230368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抬脚高度 MTC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54680" y="523036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±3–6 cm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80" y="523036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±1–3 cm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96528" y="5257800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96528" y="5230368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5490972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" y="5490972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足倾角 foot angle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54680" y="549097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±5–10°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97880" y="549097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±1–3°(触地)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96528" y="5518404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96528" y="5490972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" y="5751576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" y="5751576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2D / 3D 轨迹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54680" y="575157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漂移大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97880" y="575157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高采样+刚性更优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96528" y="5779008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96528" y="5751576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6067044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■ 绝对值</a:t>
            </a:r>
            <a:r>
              <a:rPr sz="93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可直接当指标     </a:t>
            </a:r>
            <a:r>
              <a:rPr sz="96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■ 变化幅度</a:t>
            </a:r>
            <a:r>
              <a:rPr sz="93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需一次校准、但相对变化精准。   足部信号手表测不到。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出处:</a:t>
            </a:r>
            <a:r>
              <a:rPr sz="93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手机列本机实测,± 为估计(单次·未标定);商用列 = datasheet / 文献上界,对标 Vicon、Plantiga。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③ 未来 · 商用 6 轴 IMU 能做的应用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同一颗嵌鞋 pod,覆盖运动表现 + 运动康复两大场景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91440" cy="23774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运动表现 · 跑步效率 / 训练负荷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4583" y="1591056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4583" y="1700784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583" y="2231136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跑姿与效率优化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4623" y="2596896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2651760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检测特征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步频 · 触地 GCT · 腾空比 · 足倾角 · 对称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055" y="1591056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1055" y="1700784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1055" y="2231136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跑动路径 · 活动范围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1095" y="2596896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7359" y="2651760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检测特征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2D / 3D 轨迹 · 步速 · 转身分析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1591056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527" y="1700784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7527" y="2231136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6B7A90"/>
                </a:solidFill>
                <a:latin typeface="PingFang SC"/>
                <a:ea typeface="PingFang SC"/>
                <a:cs typeface="PingFang SC"/>
              </a:rPr>
              <a:t>训练负荷管理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27567" y="2596896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3831" y="2651760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检测特征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累计触地冲击 · 步数 · GCT · 负荷不对称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93008"/>
            <a:ext cx="91440" cy="237744"/>
          </a:xfrm>
          <a:prstGeom prst="rect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47472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运动康复 · 伤后回归运动(ACL · 踝 · 过用伤)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4583" y="3767328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583" y="3877056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583" y="4407408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伤后回归 · 对称恢复 LSI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4623" y="4773168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887" y="4828032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检测特征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左右对称 · 步长对称 · 单腿负荷 · 落地稳定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1055" y="3767328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1055" y="3877056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1055" y="4407408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疲劳 · 落地稳定监测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1095" y="4773168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7359" y="4828032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检测特征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步态变异 CV · 落地冲击 · 周期波动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527" y="3767328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7527" y="3877056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7527" y="4407408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绊倒 / 廓清风险预警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7567" y="4773168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3831" y="4828032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检测特征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抬脚高度 MTC · 廓清变异 · 足倾角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687568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687568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换报告模板即覆盖两大场景;每个应用 = 一组可量化的足部特征。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④ 硬件设计 · 两条嵌鞋路线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完整模块都 ≥10mm,平铺嵌不进薄鞋垫 → 两条可行路,都不碰电路设计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5486400" cy="416052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9105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A · 快路线 — 现成完整模块 + 定制中底卡槽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买现成完整模块(自带 BLE + 电池)→ Fitasy 3D 打印中底印凹槽嵌入、可拆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77440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487168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_w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1" y="2542032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3547872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WitMotion WT9011DCL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822191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~12mm · $16–30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377440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2487168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d_mbi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1" y="2542032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10128" y="3547872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mbientlab MMS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822191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10mm · $130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159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✓ 零电路设计 · 现货 1–2 周试点 · 纯买 + 包装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8172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✗ 偏厚 ~10–12mm → 靠定制中底凹槽容纳、可拆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→ 正是「买现成+包装」原思路,定制鞋是关键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481328"/>
            <a:ext cx="5486400" cy="416052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9105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B · 薄路线 — 小板 + 超薄电池 ~5mm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38528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小板(自带 BLE + 6 轴)+ 超薄锂电 → 叠装 ~5mm,塞进任意薄鞋垫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377440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92824" y="2487168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od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3" y="2542032"/>
            <a:ext cx="12192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46520" y="3547872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Seeed XIAO nRF52840 Sense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22191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21×18×3.5mm · $16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377440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44584" y="2487168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t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4" y="2542032"/>
            <a:ext cx="914400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98280" y="3547872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超薄软包锂电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822191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~1mm / 50mAh · $3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= 叠装 ~5mm pod · 6 轴 + BLE5.4 · 自带充电管理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68172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✓ ~5mm 最薄无感,任意薄鞋垫可塞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12064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✗ 需连一块电池(轻量组装,仍非电路设计)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797296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797296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建议:A 快路线先做真鞋试点验证 → B 薄路线做产品化;两条都现货、都不碰电路设计。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⑤ 下一步 · 从手机 Demo 到嵌鞋产品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三步兑现:现成模块真鞋试点 → 验证精度与稳定性 → 薄 pod 产品化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手机 demo 已证『6 轴够还原步态』;商用 pod 精度 = 下一步要在鞋上兑现的目标,非已达成。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011680"/>
            <a:ext cx="3246120" cy="224028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26771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15468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① 现成模块 · 真鞋试点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07" y="3621024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完整模块(自带 BLE+电池)装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Fitasy 定制中底凹槽 · 可拆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4731" y="2985516"/>
            <a:ext cx="393192" cy="292608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2787" y="2011680"/>
            <a:ext cx="3246120" cy="224028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787" y="226771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787" y="315468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② 验证精度与稳定性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9947" y="3621024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确认测量精度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与日常使用稳定性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73771" y="2985516"/>
            <a:ext cx="393192" cy="292608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1827" y="2011680"/>
            <a:ext cx="3246120" cy="224028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1827" y="226771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827" y="315468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③ 薄 pod · 产品化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8987" y="3621024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做成 ~5mm 薄 pod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无感嵌入 Fitasy 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17720"/>
            <a:ext cx="10908792" cy="960120"/>
          </a:xfrm>
          <a:prstGeom prst="roundRect">
            <a:avLst/>
          </a:prstGeom>
          <a:solidFill>
            <a:srgbClr val="1B2330"/>
          </a:solidFill>
          <a:ln w="2286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3659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🚀 建议:</a:t>
            </a: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先用现成模块 + 定制中底凹槽,在 Fitasy 一款鞋上做一次真鞋联合试点,约定可验证小里程碑。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商业模式与定价见完整版商业 deck。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